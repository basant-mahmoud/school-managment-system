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6" r:id="rId4"/>
    <p:sldId id="278" r:id="rId5"/>
    <p:sldId id="279" r:id="rId6"/>
    <p:sldId id="267" r:id="rId7"/>
    <p:sldId id="272" r:id="rId8"/>
    <p:sldId id="271" r:id="rId9"/>
    <p:sldId id="270" r:id="rId10"/>
    <p:sldId id="269" r:id="rId11"/>
    <p:sldId id="268" r:id="rId12"/>
    <p:sldId id="276" r:id="rId13"/>
    <p:sldId id="277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94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42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46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0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4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42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6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39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3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03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635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64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28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520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150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608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92BC-42A9-434B-8530-ADBF4485E407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9F9E-9962-4B7B-BA18-A15907CCC6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04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0D92BC-42A9-434B-8530-ADBF4485E407}" type="datetimeFigureOut">
              <a:rPr lang="en-US" smtClean="0"/>
              <a:pPr/>
              <a:t>9/18/2023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0289F9E-9962-4B7B-BA18-A15907CCC6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2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10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67" y="744161"/>
            <a:ext cx="8818697" cy="922407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 </a:t>
            </a:r>
            <a:r>
              <a:rPr lang="en-US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Platform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30" y="1979720"/>
            <a:ext cx="8311074" cy="3211712"/>
          </a:xfrm>
        </p:spPr>
        <p:txBody>
          <a:bodyPr>
            <a:normAutofit fontScale="25000" lnSpcReduction="20000"/>
          </a:bodyPr>
          <a:lstStyle/>
          <a:p>
            <a:r>
              <a:rPr lang="en-US" sz="80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Bridging Education and Technology</a:t>
            </a:r>
          </a:p>
          <a:p>
            <a:r>
              <a:rPr lang="en-US" sz="8000" b="1" u="sng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</a:t>
            </a:r>
            <a:r>
              <a:rPr lang="en-US" sz="8000" u="sng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sz="8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Walaa Hassan Saad</a:t>
            </a:r>
          </a:p>
          <a:p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Basant Mahmoud Mohammed</a:t>
            </a:r>
          </a:p>
          <a:p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Aliaa Mohammed Saad</a:t>
            </a:r>
          </a:p>
          <a:p>
            <a:r>
              <a:rPr lang="en-US" sz="8000" b="1" u="sng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sz="8000" u="sng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 </a:t>
            </a:r>
          </a:p>
          <a:p>
            <a:r>
              <a:rPr lang="en-US" sz="80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19  September 2023</a:t>
            </a:r>
          </a:p>
          <a:p>
            <a:endParaRPr lang="en-US" u="sng" dirty="0">
              <a:solidFill>
                <a:srgbClr val="D1D5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91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19296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782" y="150920"/>
            <a:ext cx="8585872" cy="833716"/>
          </a:xfrm>
        </p:spPr>
        <p:txBody>
          <a:bodyPr>
            <a:normAutofit/>
          </a:bodyPr>
          <a:lstStyle/>
          <a:p>
            <a:r>
              <a:rPr lang="en-US" sz="31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262" y="984636"/>
            <a:ext cx="11065956" cy="4963582"/>
          </a:xfrm>
        </p:spPr>
        <p:txBody>
          <a:bodyPr>
            <a:normAutofit fontScale="47500" lnSpcReduction="20000"/>
          </a:bodyPr>
          <a:lstStyle/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 And Backend Technologies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endParaRPr lang="en-US" sz="36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Registration and Login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 Information Management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Enrollment and Admission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Attendance Tracking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Management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Online Meeting 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Upload Assignments and Quizzes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Upload Lecture </a:t>
            </a:r>
            <a:r>
              <a:rPr lang="en-US" sz="36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Materials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 Management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 Calendar and Events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endParaRPr lang="en-US" u="sng" dirty="0">
              <a:solidFill>
                <a:srgbClr val="D1D5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712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455" y="337062"/>
            <a:ext cx="9040874" cy="5912817"/>
          </a:xfrm>
        </p:spPr>
        <p:txBody>
          <a:bodyPr>
            <a:normAutofit/>
          </a:bodyPr>
          <a:lstStyle/>
          <a:p>
            <a:pPr algn="l"/>
            <a:r>
              <a:rPr lang="en-US" sz="2400" b="1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342900" indent="-34290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i="0" u="sng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Söhne"/>
              </a:rPr>
              <a:t>Overview</a:t>
            </a:r>
            <a:r>
              <a:rPr lang="en-US" sz="20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Söhne"/>
              </a:rPr>
              <a:t>:</a:t>
            </a:r>
          </a:p>
          <a:p>
            <a:pPr algn="l"/>
            <a:r>
              <a:rPr lang="en-US" sz="2000" dirty="0">
                <a:solidFill>
                  <a:srgbClr val="ECECF1"/>
                </a:solidFill>
                <a:latin typeface="Söhne"/>
              </a:rPr>
              <a:t>   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Our School Management Platform — your solution for efficient education management.</a:t>
            </a:r>
          </a:p>
          <a:p>
            <a:pPr marL="342900" indent="-34290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1" i="0" u="sng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Söhne"/>
              </a:rPr>
              <a:t>Importance of Technology: 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Söhne"/>
              </a:rPr>
              <a:t> 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today's educational landscape, technology plays a pivotal role in simplifying administrative tasks, enhancing communication, and improving the overall educational experience.</a:t>
            </a:r>
          </a:p>
          <a:p>
            <a:pPr marL="342900" indent="-34290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ECECF1"/>
                </a:solidFill>
                <a:effectLst/>
                <a:latin typeface="Söhne"/>
              </a:rPr>
              <a:t> </a:t>
            </a:r>
            <a:r>
              <a:rPr lang="en-US" sz="2000" b="1" i="0" u="sng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Goals and Objectives: </a:t>
            </a:r>
          </a:p>
          <a:p>
            <a:pPr algn="l"/>
            <a:r>
              <a:rPr lang="en-US" sz="2000" dirty="0">
                <a:solidFill>
                  <a:srgbClr val="ECECF1"/>
                </a:solidFill>
                <a:latin typeface="Söhne"/>
              </a:rPr>
              <a:t>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Our project is driven by the following goals:</a:t>
            </a:r>
          </a:p>
          <a:p>
            <a:pPr marL="285750" indent="-28575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Streamline school administration.</a:t>
            </a:r>
          </a:p>
          <a:p>
            <a:pPr marL="285750" indent="-28575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Enhance communication among stakeholders.</a:t>
            </a:r>
          </a:p>
          <a:p>
            <a:pPr marL="285750" indent="-28575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Elevate the quality of education.</a:t>
            </a:r>
          </a:p>
          <a:p>
            <a:pPr marL="285750" indent="-28575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Foster collaboration and efficiency. </a:t>
            </a:r>
          </a:p>
        </p:txBody>
      </p:sp>
    </p:spTree>
    <p:extLst>
      <p:ext uri="{BB962C8B-B14F-4D97-AF65-F5344CB8AC3E}">
        <p14:creationId xmlns:p14="http://schemas.microsoft.com/office/powerpoint/2010/main" val="418253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292678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96" y="257176"/>
            <a:ext cx="11665258" cy="6028214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 Technologies</a:t>
            </a:r>
          </a:p>
          <a:p>
            <a:pPr algn="l"/>
            <a:endParaRPr lang="en-US" sz="2400" b="1" i="0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</a:p>
          <a:p>
            <a:pPr algn="l"/>
            <a:r>
              <a:rPr lang="en-US" sz="2400" b="1" dirty="0">
                <a:solidFill>
                  <a:srgbClr val="ECEC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4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i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Flutter</a:t>
            </a:r>
          </a:p>
          <a:p>
            <a:pPr marL="342900" indent="-34290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 Technologies</a:t>
            </a:r>
          </a:p>
          <a:p>
            <a:pPr algn="l"/>
            <a:r>
              <a:rPr lang="en-US" sz="2400" b="1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</a:t>
            </a:r>
          </a:p>
          <a:p>
            <a:pPr algn="l"/>
            <a:r>
              <a:rPr lang="en-US" sz="2400" b="1" dirty="0">
                <a:solidFill>
                  <a:srgbClr val="ECECF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</a:t>
            </a:r>
          </a:p>
          <a:p>
            <a:pPr algn="l"/>
            <a:r>
              <a:rPr lang="en-US" sz="2400" b="1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1800" i="0" dirty="0">
                <a:solidFill>
                  <a:schemeClr val="accent4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Laravel9</a:t>
            </a:r>
            <a:r>
              <a:rPr lang="en-US" sz="180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sz="1800" i="0" dirty="0">
                <a:solidFill>
                  <a:schemeClr val="accent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Postman               </a:t>
            </a:r>
            <a:r>
              <a:rPr lang="en-US" sz="1800" i="0" dirty="0"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  </a:t>
            </a:r>
            <a:r>
              <a:rPr lang="en-US" sz="18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l"/>
            <a:r>
              <a:rPr lang="en-US" sz="18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</a:p>
        </p:txBody>
      </p:sp>
      <p:pic>
        <p:nvPicPr>
          <p:cNvPr id="6" name="Picture 5" descr="A logo with a blue circle&#10;&#10;Description automatically generated with medium confidence">
            <a:extLst>
              <a:ext uri="{FF2B5EF4-FFF2-40B4-BE49-F238E27FC236}">
                <a16:creationId xmlns:a16="http://schemas.microsoft.com/office/drawing/2014/main" id="{4E765052-0333-0025-ACD9-6F59E05EB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945" y="1023706"/>
            <a:ext cx="728940" cy="71631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3" name="Picture 12" descr="A red rectangles on a white background&#10;&#10;Description automatically generated">
            <a:extLst>
              <a:ext uri="{FF2B5EF4-FFF2-40B4-BE49-F238E27FC236}">
                <a16:creationId xmlns:a16="http://schemas.microsoft.com/office/drawing/2014/main" id="{D6937233-3B96-8C72-DB93-2DB063DD6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945" y="2965834"/>
            <a:ext cx="751781" cy="7748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5" name="Picture 14" descr="A white figure in a orange circle&#10;&#10;Description automatically generated">
            <a:extLst>
              <a:ext uri="{FF2B5EF4-FFF2-40B4-BE49-F238E27FC236}">
                <a16:creationId xmlns:a16="http://schemas.microsoft.com/office/drawing/2014/main" id="{6F7411DC-B5CC-C039-7A2B-E3DD268A4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787" y="2965834"/>
            <a:ext cx="751781" cy="7748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E27CBD-856D-587C-A22C-1A8EF848E1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629" y="2965834"/>
            <a:ext cx="751781" cy="7748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3066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277696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99" y="178594"/>
            <a:ext cx="10775519" cy="6222206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accent6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</a:p>
          <a:p>
            <a:pPr algn="l"/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Flutter (Mobile App Development):</a:t>
            </a:r>
            <a:endParaRPr lang="en-US" sz="2000" b="0" i="0" dirty="0">
              <a:solidFill>
                <a:schemeClr val="accent6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Flutter SDK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Dart programming language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Android Studio, Visual Studio Code with Flutter plugins</a:t>
            </a:r>
          </a:p>
          <a:p>
            <a:pPr algn="l"/>
            <a:r>
              <a:rPr lang="en-US" sz="20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 9 (Web Application Development):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 framework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PHP programming language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Composer for dependency management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Laravel Mix for asset compilation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Artisan for command-line tasks</a:t>
            </a:r>
          </a:p>
          <a:p>
            <a:pPr algn="l"/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  <a:p>
            <a:pPr algn="l">
              <a:buClr>
                <a:schemeClr val="accent6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phpMyAdmin  for MySQL database management </a:t>
            </a:r>
            <a:endParaRPr lang="en-US" sz="1600" b="1" dirty="0">
              <a:solidFill>
                <a:srgbClr val="D1D5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dirty="0">
              <a:solidFill>
                <a:srgbClr val="D1D5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7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7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266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899" y="178594"/>
            <a:ext cx="10775519" cy="622220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6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</a:t>
            </a:r>
            <a:r>
              <a:rPr lang="en-US" sz="26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Registration and Login:</a:t>
            </a:r>
          </a:p>
          <a:p>
            <a:pPr algn="l"/>
            <a:r>
              <a:rPr lang="en-US" sz="19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Welcome to the Login and Signup Screen of our School Management Platform.</a:t>
            </a:r>
            <a:endParaRPr lang="en-US" sz="19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9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n-US" sz="190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endParaRPr lang="en-US" sz="190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your email and password.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Validate inputs.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"Login" to access your account.</a:t>
            </a:r>
          </a:p>
          <a:p>
            <a:pPr algn="l"/>
            <a:r>
              <a:rPr lang="en-US" sz="19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 Up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 a new account.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Provide username, email, and password.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"SIGN UP" to create your account.</a:t>
            </a:r>
          </a:p>
          <a:p>
            <a:pPr algn="l"/>
            <a:r>
              <a:rPr lang="en-US" sz="19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Password Requirements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Password must be at least 6 characters long.</a:t>
            </a:r>
          </a:p>
          <a:p>
            <a:pPr algn="l"/>
            <a:r>
              <a:rPr lang="en-US" sz="19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Animated welcome message.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Image assets for visual appeal.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Switch between Sign In and Sign Up.</a:t>
            </a:r>
          </a:p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 integration for user login and registration with validation and dynamic form toggle.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7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7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17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22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331" y="200025"/>
            <a:ext cx="11611646" cy="6129754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Söhne"/>
              </a:rPr>
              <a:t>                                                           </a:t>
            </a:r>
            <a:r>
              <a:rPr lang="en-US" sz="24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 Information Management</a:t>
            </a:r>
          </a:p>
          <a:p>
            <a:pPr algn="l">
              <a:lnSpc>
                <a:spcPct val="120000"/>
              </a:lnSpc>
            </a:pP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900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7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User Profile screen displays user information.</a:t>
            </a:r>
          </a:p>
          <a:p>
            <a:pPr algn="l">
              <a:lnSpc>
                <a:spcPct val="120000"/>
              </a:lnSpc>
            </a:pPr>
            <a:r>
              <a:rPr lang="en-US" sz="17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 can view their profile details and if needed, edit them.</a:t>
            </a:r>
          </a:p>
          <a:p>
            <a:pPr algn="l">
              <a:lnSpc>
                <a:spcPct val="120000"/>
              </a:lnSpc>
            </a:pP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US" sz="1800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7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Profile Image</a:t>
            </a:r>
            <a:r>
              <a:rPr lang="en-US" sz="17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Display the user's profile image.</a:t>
            </a:r>
          </a:p>
          <a:p>
            <a:pPr algn="l">
              <a:lnSpc>
                <a:spcPct val="120000"/>
              </a:lnSpc>
            </a:pPr>
            <a:r>
              <a:rPr lang="en-US" sz="17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Personal Details</a:t>
            </a:r>
            <a:r>
              <a:rPr lang="en-US" sz="17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Name, Address, Age, Identification Number.</a:t>
            </a:r>
          </a:p>
          <a:p>
            <a:pPr algn="l">
              <a:lnSpc>
                <a:spcPct val="120000"/>
              </a:lnSpc>
            </a:pPr>
            <a:r>
              <a:rPr lang="en-US" sz="17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Guardian Details</a:t>
            </a:r>
            <a:r>
              <a:rPr lang="en-US" sz="17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Guardian Name, Job, Marital Status.</a:t>
            </a:r>
          </a:p>
          <a:p>
            <a:pPr algn="l">
              <a:lnSpc>
                <a:spcPct val="120000"/>
              </a:lnSpc>
            </a:pPr>
            <a:r>
              <a:rPr lang="en-US" sz="18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 Details</a:t>
            </a:r>
            <a:r>
              <a:rPr lang="en-US" sz="18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personal information, father information, and profile image</a:t>
            </a:r>
            <a:endParaRPr lang="en-US" sz="1700" i="0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endParaRPr lang="en-US" sz="1800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sz="16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Access your user profile and view/edit your information.</a:t>
            </a:r>
          </a:p>
          <a:p>
            <a:pPr algn="l">
              <a:lnSpc>
                <a:spcPct val="120000"/>
              </a:lnSpc>
            </a:pPr>
            <a:r>
              <a:rPr lang="en-US" sz="1600" i="0" dirty="0">
                <a:solidFill>
                  <a:srgbClr val="ECECF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Customize your profile picture and personal details.</a:t>
            </a:r>
          </a:p>
          <a:p>
            <a:pPr algn="l">
              <a:lnSpc>
                <a:spcPct val="120000"/>
              </a:lnSpc>
            </a:pPr>
            <a:endParaRPr lang="en-US" sz="1600" b="1" i="0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343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96" y="257176"/>
            <a:ext cx="11629747" cy="6037091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Enrollment and Admission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800" b="0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page for enrolling students and another to enrolling employee, </a:t>
            </a:r>
          </a:p>
          <a:p>
            <a:pPr algn="l"/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capturing their information, including optional details about their parents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US" sz="1800" b="0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Student Information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orm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selection, gender selection, </a:t>
            </a:r>
          </a:p>
          <a:p>
            <a:pPr algn="l"/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birthdate picker, and optional parent details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</a:t>
            </a:r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Information </a:t>
            </a:r>
            <a:r>
              <a:rPr lang="en-US" sz="1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orm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phone, gender selection, national id, </a:t>
            </a:r>
          </a:p>
          <a:p>
            <a:pPr algn="l"/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address, salary, major, technical selection, age. </a:t>
            </a:r>
          </a:p>
          <a:p>
            <a:pPr algn="l"/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0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920" y="0"/>
            <a:ext cx="11714849" cy="5872163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Attendance Tracking</a:t>
            </a:r>
          </a:p>
          <a:p>
            <a:pPr algn="l"/>
            <a:r>
              <a:rPr lang="en-US" sz="18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pPr algn="l"/>
            <a:r>
              <a:rPr lang="en-US" sz="16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T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his page offers manual class attendance management with class selection,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student status marking, API data submission, and real-time status feedback.</a:t>
            </a:r>
          </a:p>
          <a:p>
            <a:pPr algn="l"/>
            <a:r>
              <a:rPr lang="en-U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Record attendance for multiple classes.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Mark students as present or absent.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Integration with an API for attendance updates and handling success and errors.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Real-time feedback on attendance status.</a:t>
            </a:r>
          </a:p>
          <a:p>
            <a:pPr algn="l"/>
            <a:r>
              <a:rPr lang="en-US" sz="1800" b="1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</a:p>
          <a:p>
            <a:pPr algn="l"/>
            <a:r>
              <a:rPr lang="en-US" sz="16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a Class</a:t>
            </a:r>
            <a:r>
              <a:rPr lang="en-US" sz="16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Click "Record Manual Attendance," choose a class.</a:t>
            </a:r>
          </a:p>
          <a:p>
            <a:pPr algn="l"/>
            <a:r>
              <a:rPr lang="en-US" sz="16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Mark Attendance</a:t>
            </a:r>
            <a:r>
              <a:rPr lang="en-US" sz="16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Toggle student checkboxes.</a:t>
            </a:r>
          </a:p>
          <a:p>
            <a:pPr algn="l"/>
            <a:r>
              <a:rPr lang="en-US" sz="16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Submit Attendance: 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Click "Check" to send data to the API.</a:t>
            </a:r>
          </a:p>
          <a:p>
            <a:pPr algn="l"/>
            <a:r>
              <a:rPr lang="en-US" sz="16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Feedback: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Success message for successful marking, error code for issues.</a:t>
            </a:r>
          </a:p>
          <a:p>
            <a:pPr algn="l"/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  <a:p>
            <a:pPr algn="l"/>
            <a:endParaRPr lang="en-US" sz="2400" b="0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2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08" y="257176"/>
            <a:ext cx="11590559" cy="6057899"/>
          </a:xfrm>
        </p:spPr>
        <p:txBody>
          <a:bodyPr>
            <a:normAutofit/>
          </a:bodyPr>
          <a:lstStyle/>
          <a:p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 Management</a:t>
            </a:r>
          </a:p>
          <a:p>
            <a:pPr algn="l"/>
            <a:r>
              <a:rPr lang="en-U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pPr algn="l"/>
            <a:r>
              <a:rPr lang="en-US" sz="1400" b="0" i="0" dirty="0">
                <a:solidFill>
                  <a:srgbClr val="D1D5DB"/>
                </a:solidFill>
                <a:effectLst/>
                <a:latin typeface="Söhne"/>
              </a:rPr>
              <a:t>  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page simplifies class creation, including selecting subjects, teachers, students, and storing class details.</a:t>
            </a:r>
            <a:endParaRPr lang="en-US" sz="1600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US" sz="1800" b="1" u="sng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Select educational levels and specify class name.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Choose multiple subjects, teachers, and students.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Create the class and view details in an alert dialog.</a:t>
            </a:r>
          </a:p>
          <a:p>
            <a:pPr algn="l"/>
            <a:r>
              <a:rPr lang="en-US" sz="18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</a:p>
          <a:p>
            <a:pPr algn="l"/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Launch the app, set the educational level, </a:t>
            </a:r>
          </a:p>
          <a:p>
            <a:pPr algn="l"/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specify class details, select subjects, teachers, and students,</a:t>
            </a:r>
          </a:p>
          <a:p>
            <a:pPr algn="l"/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 create the class and view the details in an alert dialog.</a:t>
            </a:r>
            <a:endParaRPr lang="en-US" sz="2400" b="0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398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0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862" y="363984"/>
            <a:ext cx="10935602" cy="5921405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Online Meeting </a:t>
            </a:r>
          </a:p>
          <a:p>
            <a:pPr algn="l"/>
            <a:r>
              <a:rPr lang="en-US" sz="18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800" b="1" u="sng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The Zoom Meeting App streamlines OAuth for Flutter apps, facilitating seamless </a:t>
            </a:r>
          </a:p>
          <a:p>
            <a:pPr algn="l"/>
            <a:r>
              <a:rPr lang="en-US" sz="16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Zoom meeting initiation and management with a user-friendly interface.</a:t>
            </a:r>
          </a:p>
          <a:p>
            <a:pPr algn="l"/>
            <a:r>
              <a:rPr lang="en-US" sz="18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endParaRPr lang="en-US" sz="1800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Include a one-click OAuth initiation, streamlined OAuth flow for secure Zoom integration,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efficient access token management, and a user-friendly interface for easy Zoom meeting access.</a:t>
            </a:r>
            <a:b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5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endParaRPr lang="en-US" sz="1800" b="1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Launch the app and click "Start Zoom Meeting" to initiate OAuth flow.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The app handles OAuth seamlessly and obtains the access token.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Access and manage Zoom meetings with ease.</a:t>
            </a:r>
          </a:p>
          <a:p>
            <a:pPr algn="l"/>
            <a:br>
              <a:rPr lang="en-US" sz="1200" b="0" i="0" dirty="0">
                <a:solidFill>
                  <a:srgbClr val="D1D5DB"/>
                </a:solidFill>
                <a:effectLst/>
                <a:latin typeface="Söhne"/>
              </a:rPr>
            </a:br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36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8" y="171450"/>
            <a:ext cx="11437142" cy="5922169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  <a:r>
              <a:rPr lang="en-US" sz="24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Upload Assignments And Quizzes</a:t>
            </a:r>
          </a:p>
          <a:p>
            <a:pPr algn="l"/>
            <a:r>
              <a:rPr lang="en-US" sz="23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pPr algn="l"/>
            <a:r>
              <a:rPr lang="en-US" sz="17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Streamline assignment and quiz creation and upload in our Flutter app, seamlessly </a:t>
            </a:r>
          </a:p>
          <a:p>
            <a:pPr algn="l"/>
            <a:r>
              <a:rPr lang="en-US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integrating with a Laravel backend for efficient educational content management.</a:t>
            </a:r>
            <a:endParaRPr lang="en-US" dirty="0">
              <a:solidFill>
                <a:srgbClr val="D1D5D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90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Assignment and quiz creation with titles, descriptions, files,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and a user-friendly interface, all securely integrated with Laravel backend.</a:t>
            </a:r>
            <a:endParaRPr lang="en-US" sz="1600" b="1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300" i="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"Upload Assignments and Quizzes," create assignments with titles, descriptions, and file uploads,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do the same for quizzes. The app securely manages data and integrates with Laravel for storage.</a:t>
            </a:r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3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257176"/>
            <a:ext cx="11544300" cy="6115049"/>
          </a:xfrm>
        </p:spPr>
        <p:txBody>
          <a:bodyPr>
            <a:normAutofit/>
          </a:bodyPr>
          <a:lstStyle/>
          <a:p>
            <a:pPr algn="l"/>
            <a:r>
              <a:rPr lang="en-US" sz="44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sz="4400" b="1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Upload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ecture Materials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Our Teacher Dashboard streamlines educators' sharing of diverse educational materials, enhancing learning.</a:t>
            </a:r>
            <a:endParaRPr lang="en-US" sz="1600" b="1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Effortless material upload with customized metadata,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diverse format support, visual preview, and secure storage.</a:t>
            </a:r>
            <a:endParaRPr lang="en-US" sz="1600" b="1" u="sng" dirty="0">
              <a:solidFill>
                <a:schemeClr val="accent6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  <a:endParaRPr lang="en-US" sz="1800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Access the teacher's account, go to the Teacher Dashboard, click "Add Material," 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 lecture details, select files, review, and confirm with the "Upload" button.</a:t>
            </a:r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712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2" y="337062"/>
            <a:ext cx="10992151" cy="5936416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 Management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</a:p>
          <a:p>
            <a:pPr algn="l"/>
            <a:r>
              <a:rPr lang="en-US" sz="20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 Management Screen simplifies student fee payment recording, enabling user-friendly selection of students, fee input, and secure payment processing with invoice/receipt generation.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algn="l"/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Effortless Student Selection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Simplify fee payments by choosing a student from a dropdown menu.</a:t>
            </a:r>
          </a:p>
          <a:p>
            <a:pPr algn="l"/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Fee Recording Made Easy</a:t>
            </a:r>
            <a:r>
              <a:rPr lang="en-US" sz="16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 fee amounts with ease.</a:t>
            </a:r>
          </a:p>
          <a:p>
            <a:pPr algn="l"/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 Invoice Generation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Generate invoices or receipts for transparent transaction records.</a:t>
            </a:r>
          </a:p>
          <a:p>
            <a:pPr algn="l"/>
            <a:r>
              <a:rPr lang="en-US" sz="1600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User-Friendly Design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Enjoy a hassle-free experience for both payment recording and invoice creation</a:t>
            </a:r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include easy student selection for fee payments, simplified fee recording,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instant invoice generation, and a user-friendly design for a seamless payment experience.</a:t>
            </a:r>
          </a:p>
          <a:p>
            <a:pPr algn="l"/>
            <a:endParaRPr lang="en-US" sz="2400" b="1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476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96" y="257176"/>
            <a:ext cx="11665258" cy="6028214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School Calendar And Events</a:t>
            </a:r>
            <a:endParaRPr lang="en-US" sz="2400" b="1" i="0" dirty="0">
              <a:solidFill>
                <a:srgbClr val="D1D5D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US" sz="1800" b="0" i="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Our School Calendar Screen simplifies event and schedule management by seamlessly integrating with a Laravel backend to display events on a dynamic calendar. Users can effortlessly view and create events, enhancing scheduling and organization.</a:t>
            </a: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comprise calendar integration for events, 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easy event creation, secure Laravel backend connectivity,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a user-friendly interface for viewing and adding events.</a:t>
            </a:r>
            <a:endParaRPr lang="en-US" sz="1600" b="1" i="0" u="sng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u="sng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Launch the app, access "School Calendar,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browse events, create new events with event name and date, </a:t>
            </a:r>
          </a:p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manage events via the dynamic calendar interface.</a:t>
            </a:r>
            <a:endParaRPr lang="en-US" sz="1600" b="1" i="0" u="sng" dirty="0">
              <a:solidFill>
                <a:srgbClr val="ECECF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80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6DF45338-6A18-69EF-9E75-EAA36FA8C8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5730"/>
          <a:stretch/>
        </p:blipFill>
        <p:spPr>
          <a:xfrm>
            <a:off x="0" y="-337052"/>
            <a:ext cx="12192001" cy="6857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D5DEE3-66B8-B9D8-D010-47B5A6D1C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263" y="257176"/>
            <a:ext cx="8739051" cy="140017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effectLst/>
                <a:latin typeface="Söhne"/>
              </a:rPr>
            </a:b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BF023-86BB-7235-05EF-B01DCDB8B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88" y="257176"/>
            <a:ext cx="11627666" cy="6028214"/>
          </a:xfrm>
        </p:spPr>
        <p:txBody>
          <a:bodyPr>
            <a:normAutofit/>
          </a:bodyPr>
          <a:lstStyle/>
          <a:p>
            <a:pPr algn="l"/>
            <a:r>
              <a:rPr lang="en-US" sz="1600" b="0" i="0" dirty="0">
                <a:solidFill>
                  <a:srgbClr val="D1D5D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</a:t>
            </a: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algn="l"/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b="0" i="0" dirty="0">
                <a:solidFill>
                  <a:srgbClr val="D1D5DB"/>
                </a:solidFill>
                <a:effectLst/>
                <a:latin typeface="Söhne"/>
              </a:rPr>
              <a:t>Our School Management Platform offers secure access, efficient student information management, simplified enrollment, class management, attendance tracking, fee handling, and event notifications. It serves as a central hub for educational institutions, streamlining administrative tasks, fostering communication, and enhancing learning environments, making it a valuable asset for educational management and growth.</a:t>
            </a:r>
            <a:endParaRPr lang="en-US" sz="2400" b="1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829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647</TotalTime>
  <Words>1280</Words>
  <Application>Microsoft Office PowerPoint</Application>
  <PresentationFormat>Widescreen</PresentationFormat>
  <Paragraphs>200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Garamond</vt:lpstr>
      <vt:lpstr>Söhne</vt:lpstr>
      <vt:lpstr>Wingdings</vt:lpstr>
      <vt:lpstr>Organic</vt:lpstr>
      <vt:lpstr>School Management Platform</vt:lpstr>
      <vt:lpstr>Agenda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Platform</dc:title>
  <dc:creator>باسنت محمود محمد خلف الله الشحيمى</dc:creator>
  <cp:lastModifiedBy>باسنت محمود محمد خلف الله الشحيمى</cp:lastModifiedBy>
  <cp:revision>8</cp:revision>
  <dcterms:created xsi:type="dcterms:W3CDTF">2023-09-17T13:33:24Z</dcterms:created>
  <dcterms:modified xsi:type="dcterms:W3CDTF">2023-09-18T14:32:26Z</dcterms:modified>
</cp:coreProperties>
</file>